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7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4967D-9F24-60C4-89A9-5207863331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A46209-20CA-5727-8D40-0FA89A5FEC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FB2BB-1C36-A2B8-C82B-D122E563C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75790-86A9-00CC-FDD6-9BCEDB98C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65789-FBDE-70E9-A09A-6919C2B2D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6205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8C5F1-A161-1C70-EDE1-DA68422B1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B3239-5993-F059-CFB3-A914BBCB9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8563A-51E5-C097-3B96-1138E7A96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AF60E3-84EB-F973-992A-397D938B4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72CBFE-35A4-EEB7-8CB8-0E45B5E05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349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BB3B5-4D62-48FF-CEF2-4740BDB72E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670123-7B37-ECF5-7A47-EE2718733A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08712-77BA-9DA6-F57E-E3AA83A67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080E4B-7C89-0DD5-FEFE-358B69C40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C0A79-6CF0-7DAF-30C7-8AEC32EAB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04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919BA-73E2-2957-D0E4-68534C306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19439-4CD0-6D88-36C0-FA6CF156F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9F55-A237-AF40-FE16-193E038AD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9FFD0-5D51-F2DC-5297-9FC68B5F4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A8E45F-7D37-A922-C717-8901B747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BFF4-45C0-690B-3BD7-9F53F2F26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944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EB279-A847-4F70-6F44-100984330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490E9A-30C3-BF31-DDF2-E9C711316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32454-D616-285A-FFAC-9D4D248369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F67FCF-7DC5-8D0E-726C-734172A8B7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D3D879-DB06-BA16-78FC-5EC53440EF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60834F-AF36-7366-744D-CC92F7384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62F9DA-8A3D-13C8-BA98-BC2FD0B6F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164D-C163-C331-4469-8BF0D82DC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063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5C72-4C79-4927-7235-BA66575AF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1F5B11-C952-8F54-BFA3-F4E5997F0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8845F8-DF85-5F5D-DB7D-CD3117A50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5C0CE-06CA-6733-29B1-219A80EAA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57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5E296D-3071-B6E5-1519-2FEB8836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FFE5CE-CC94-7B0A-0013-4F399D86E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B908A0-7ED5-F458-D371-C5AE97539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334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4E6DF1-8E7D-CDC0-F598-E2AEDA360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86F19-F70B-3C33-8425-5384723532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1C12E3-6DD0-B38C-C6AE-BAA4364EAF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EA339-0011-DCC9-7AEC-402D08792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B325A-AE6D-143E-D767-4563B7123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46B825-8C33-AD1F-EC41-24094C2DF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919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8EA46-8DBF-A7D8-B0EF-CADBEE875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13B05E-8AD3-19B0-C6C6-AAA1AB5A99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45083-2355-BBCD-EE2B-B765B6050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2106B7-A75A-A10B-0F89-21FAC964D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64CF36-0A9D-CB47-A277-6B8B1E662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FFDB24-4BD4-EB69-2A26-FEE269C9A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48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F3584-EE6F-F69F-B103-2B04642F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B2DE2-0BAB-0CA5-11A4-6D29156B7B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7B0E6-023D-E108-5958-DB991B04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69F6B8-FA19-EEE7-99EA-820456337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FD2B3-B467-C0F9-41B9-823FEF336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490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72F03A-4E83-CE40-0272-47DE0BE7DC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DE33CB-C7BF-7743-9A4C-7CA62A044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6E77FB-433B-3B61-42EA-AAE880F52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3A9FC-7652-82BD-BB2B-7057852D4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8C94EE-0C2E-825E-800C-485B3B8D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417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9553F2-BF64-5CD1-022D-7FBE7EA46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1BB36-891E-3226-541C-D9F505527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4A4FE4-EA01-F475-148B-BA44E6D598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EE53B9-33DB-40D1-B9DF-65A7E0D4D34C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7EB53-5525-09F0-0D9D-4D93B86F65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3BD14-CB9C-553F-F892-59A28B8B7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3D6D8C-E85C-4E27-87DA-D8EEDCBA63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F3DF-7C7D-52C8-654E-62C51994C6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JPA-CAL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3CD63C-052E-37CC-F9CF-EA430E6363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Using the Josephson Parametric Amplifier as a Cal standard</a:t>
            </a:r>
          </a:p>
        </p:txBody>
      </p:sp>
    </p:spTree>
    <p:extLst>
      <p:ext uri="{BB962C8B-B14F-4D97-AF65-F5344CB8AC3E}">
        <p14:creationId xmlns:p14="http://schemas.microsoft.com/office/powerpoint/2010/main" val="860185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70AD5-95C5-496A-B030-6FC682989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 Model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D015EBDA-A6F0-7806-85EB-778463BCA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667" y="1239740"/>
            <a:ext cx="5142175" cy="514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ADF052B-A2F9-C705-B475-4635B642A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05" y="2565303"/>
            <a:ext cx="6154009" cy="2314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78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E8D8D-2323-6145-89C1-3007467A3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</a:t>
            </a:r>
          </a:p>
        </p:txBody>
      </p:sp>
      <p:pic>
        <p:nvPicPr>
          <p:cNvPr id="5" name="Picture 4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0C31644B-D149-4E49-5885-AB98739BC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40" b="12525"/>
          <a:stretch>
            <a:fillRect/>
          </a:stretch>
        </p:blipFill>
        <p:spPr>
          <a:xfrm rot="5400000">
            <a:off x="3573312" y="1751031"/>
            <a:ext cx="6635363" cy="335594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292B91-E12B-9C9A-BF78-202BF34D3EB7}"/>
              </a:ext>
            </a:extLst>
          </p:cNvPr>
          <p:cNvCxnSpPr>
            <a:cxnSpLocks/>
          </p:cNvCxnSpPr>
          <p:nvPr/>
        </p:nvCxnSpPr>
        <p:spPr>
          <a:xfrm flipH="1" flipV="1">
            <a:off x="7707765" y="3731210"/>
            <a:ext cx="1389101" cy="30383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597976F-36A6-3E5F-F3C3-C962D41612F8}"/>
              </a:ext>
            </a:extLst>
          </p:cNvPr>
          <p:cNvSpPr txBox="1"/>
          <p:nvPr/>
        </p:nvSpPr>
        <p:spPr>
          <a:xfrm>
            <a:off x="9145964" y="3863157"/>
            <a:ext cx="1630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JPA</a:t>
            </a:r>
            <a:endParaRPr lang="en-US" sz="14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D6E048F-DD10-AB5E-9EFA-E2D3C78B39ED}"/>
              </a:ext>
            </a:extLst>
          </p:cNvPr>
          <p:cNvCxnSpPr>
            <a:cxnSpLocks/>
          </p:cNvCxnSpPr>
          <p:nvPr/>
        </p:nvCxnSpPr>
        <p:spPr>
          <a:xfrm flipH="1">
            <a:off x="7519229" y="1442301"/>
            <a:ext cx="1577637" cy="24838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B9C96FC-6A8C-C684-ABEB-30B1E4003F5A}"/>
              </a:ext>
            </a:extLst>
          </p:cNvPr>
          <p:cNvSpPr txBox="1"/>
          <p:nvPr/>
        </p:nvSpPr>
        <p:spPr>
          <a:xfrm>
            <a:off x="9047876" y="892687"/>
            <a:ext cx="163083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MEMS Switch</a:t>
            </a:r>
            <a:endParaRPr lang="en-US" sz="14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EDC7B8E-FCD4-8A2B-A42A-06D72C522D28}"/>
              </a:ext>
            </a:extLst>
          </p:cNvPr>
          <p:cNvCxnSpPr>
            <a:cxnSpLocks/>
          </p:cNvCxnSpPr>
          <p:nvPr/>
        </p:nvCxnSpPr>
        <p:spPr>
          <a:xfrm flipH="1">
            <a:off x="7754899" y="6340956"/>
            <a:ext cx="151193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C104D44-798C-F5E5-2C01-8ACFD2BBEE21}"/>
              </a:ext>
            </a:extLst>
          </p:cNvPr>
          <p:cNvSpPr txBox="1"/>
          <p:nvPr/>
        </p:nvSpPr>
        <p:spPr>
          <a:xfrm>
            <a:off x="9328249" y="6079346"/>
            <a:ext cx="16308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Pump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8DA332-CAAC-67D1-9241-24095FAC645E}"/>
              </a:ext>
            </a:extLst>
          </p:cNvPr>
          <p:cNvSpPr txBox="1"/>
          <p:nvPr/>
        </p:nvSpPr>
        <p:spPr>
          <a:xfrm>
            <a:off x="9328249" y="5062829"/>
            <a:ext cx="2328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Bias Tee</a:t>
            </a:r>
            <a:endParaRPr lang="en-US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696F666-5D7F-71E7-8E15-2605D84D8350}"/>
              </a:ext>
            </a:extLst>
          </p:cNvPr>
          <p:cNvCxnSpPr>
            <a:cxnSpLocks/>
          </p:cNvCxnSpPr>
          <p:nvPr/>
        </p:nvCxnSpPr>
        <p:spPr>
          <a:xfrm flipH="1">
            <a:off x="7707765" y="5459520"/>
            <a:ext cx="1620484" cy="25305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AE81EE5-CCE1-9178-B6BA-7915A38338EE}"/>
              </a:ext>
            </a:extLst>
          </p:cNvPr>
          <p:cNvSpPr txBox="1"/>
          <p:nvPr/>
        </p:nvSpPr>
        <p:spPr>
          <a:xfrm>
            <a:off x="1684571" y="5439732"/>
            <a:ext cx="26801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DC Flux Bias</a:t>
            </a:r>
            <a:endParaRPr lang="en-US" sz="14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76AF9C3-BD21-5C02-A2CE-469924C3042A}"/>
              </a:ext>
            </a:extLst>
          </p:cNvPr>
          <p:cNvCxnSpPr>
            <a:cxnSpLocks/>
          </p:cNvCxnSpPr>
          <p:nvPr/>
        </p:nvCxnSpPr>
        <p:spPr>
          <a:xfrm>
            <a:off x="3828208" y="5747631"/>
            <a:ext cx="2730413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81097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rrow: Right 4">
            <a:extLst>
              <a:ext uri="{FF2B5EF4-FFF2-40B4-BE49-F238E27FC236}">
                <a16:creationId xmlns:a16="http://schemas.microsoft.com/office/drawing/2014/main" id="{7A1E862C-EA56-54B1-E956-0B86B6D81A74}"/>
              </a:ext>
            </a:extLst>
          </p:cNvPr>
          <p:cNvSpPr/>
          <p:nvPr/>
        </p:nvSpPr>
        <p:spPr>
          <a:xfrm>
            <a:off x="5169144" y="3470244"/>
            <a:ext cx="1818293" cy="1173815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CFA4BE-49E8-32DA-6935-E1A0229DA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Measurement of S11 Corrected with MEMS E-Cal</a:t>
            </a:r>
          </a:p>
        </p:txBody>
      </p:sp>
      <p:pic>
        <p:nvPicPr>
          <p:cNvPr id="2049" name="Picture 1">
            <a:extLst>
              <a:ext uri="{FF2B5EF4-FFF2-40B4-BE49-F238E27FC236}">
                <a16:creationId xmlns:a16="http://schemas.microsoft.com/office/drawing/2014/main" id="{AF2FCA18-E112-5299-520C-75E9F65F4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02511"/>
            <a:ext cx="5040160" cy="3709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E3C935A-33D5-EA8C-58B4-0AE422752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4591" y="2202511"/>
            <a:ext cx="5040160" cy="37092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4CE6A9-2109-B4B0-9425-EE3322C1686C}"/>
                  </a:ext>
                </a:extLst>
              </p:cNvPr>
              <p:cNvSpPr txBox="1"/>
              <p:nvPr/>
            </p:nvSpPr>
            <p:spPr>
              <a:xfrm>
                <a:off x="5285837" y="3834750"/>
                <a:ext cx="1334661" cy="4448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14CE6A9-2109-B4B0-9425-EE3322C16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5837" y="3834750"/>
                <a:ext cx="1334661" cy="44480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9F17445-6861-F268-228F-008081819A8E}"/>
              </a:ext>
            </a:extLst>
          </p:cNvPr>
          <p:cNvSpPr txBox="1"/>
          <p:nvPr/>
        </p:nvSpPr>
        <p:spPr>
          <a:xfrm>
            <a:off x="4851579" y="6043927"/>
            <a:ext cx="3148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Unwind to make fit tractable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2F1173-2CBE-6FC3-854E-72D921594F3D}"/>
              </a:ext>
            </a:extLst>
          </p:cNvPr>
          <p:cNvSpPr txBox="1"/>
          <p:nvPr/>
        </p:nvSpPr>
        <p:spPr>
          <a:xfrm>
            <a:off x="7896437" y="1669677"/>
            <a:ext cx="3148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Make range from 4- 5 GHz flat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86E84F4-8250-9AF1-35F2-756FF6AD3A43}"/>
              </a:ext>
            </a:extLst>
          </p:cNvPr>
          <p:cNvCxnSpPr>
            <a:cxnSpLocks/>
          </p:cNvCxnSpPr>
          <p:nvPr/>
        </p:nvCxnSpPr>
        <p:spPr>
          <a:xfrm flipH="1">
            <a:off x="8408709" y="2006665"/>
            <a:ext cx="246220" cy="21128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C6118C-18B0-FCA3-7171-118EAC61CCCA}"/>
                  </a:ext>
                </a:extLst>
              </p:cNvPr>
              <p:cNvSpPr txBox="1"/>
              <p:nvPr/>
            </p:nvSpPr>
            <p:spPr>
              <a:xfrm>
                <a:off x="5169144" y="2783445"/>
                <a:ext cx="2040430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=0.434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C6118C-18B0-FCA3-7171-118EAC61C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9144" y="2783445"/>
                <a:ext cx="2040430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18899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A68F1E6-9396-BBF2-BE08-7650A5B7C0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9435" y="1865750"/>
            <a:ext cx="55245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2E82A8-F9D2-32A3-2983-608163121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Unwrapped data, concatenated</a:t>
            </a:r>
          </a:p>
        </p:txBody>
      </p:sp>
      <p:pic>
        <p:nvPicPr>
          <p:cNvPr id="3073" name="Picture 1">
            <a:extLst>
              <a:ext uri="{FF2B5EF4-FFF2-40B4-BE49-F238E27FC236}">
                <a16:creationId xmlns:a16="http://schemas.microsoft.com/office/drawing/2014/main" id="{43FA0C10-E263-6CCB-67A7-A435F4607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729" y="1621410"/>
            <a:ext cx="5553075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51982F-9B69-50E4-DBFC-0F18E6B496CC}"/>
              </a:ext>
            </a:extLst>
          </p:cNvPr>
          <p:cNvSpPr txBox="1"/>
          <p:nvPr/>
        </p:nvSpPr>
        <p:spPr>
          <a:xfrm>
            <a:off x="8077029" y="3946679"/>
            <a:ext cx="107465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</a:rPr>
              <a:t>REAL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C1DF33-7973-B05E-D01F-558E82771907}"/>
              </a:ext>
            </a:extLst>
          </p:cNvPr>
          <p:cNvSpPr txBox="1"/>
          <p:nvPr/>
        </p:nvSpPr>
        <p:spPr>
          <a:xfrm>
            <a:off x="7584275" y="2461293"/>
            <a:ext cx="20133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IMAGINARY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0275BC-F7D8-DAEA-D270-568162725201}"/>
              </a:ext>
            </a:extLst>
          </p:cNvPr>
          <p:cNvSpPr txBox="1"/>
          <p:nvPr/>
        </p:nvSpPr>
        <p:spPr>
          <a:xfrm>
            <a:off x="4270342" y="6005814"/>
            <a:ext cx="6146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Concatenate imaginary on top of real to make a function that can be fit with both real and imaginary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3F400-A01E-9951-986C-2EFFEA6D7BB9}"/>
              </a:ext>
            </a:extLst>
          </p:cNvPr>
          <p:cNvSpPr txBox="1"/>
          <p:nvPr/>
        </p:nvSpPr>
        <p:spPr>
          <a:xfrm rot="16200000">
            <a:off x="9258438" y="482811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59BB9D-A38B-0DC2-A046-02E40659157C}"/>
              </a:ext>
            </a:extLst>
          </p:cNvPr>
          <p:cNvSpPr txBox="1"/>
          <p:nvPr/>
        </p:nvSpPr>
        <p:spPr>
          <a:xfrm rot="16200000">
            <a:off x="9731973" y="376201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1300</a:t>
            </a:r>
          </a:p>
        </p:txBody>
      </p:sp>
    </p:spTree>
    <p:extLst>
      <p:ext uri="{BB962C8B-B14F-4D97-AF65-F5344CB8AC3E}">
        <p14:creationId xmlns:p14="http://schemas.microsoft.com/office/powerpoint/2010/main" val="3096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C31A9-E060-C7D4-F83A-D38369FD7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Using concatenated data and function</a:t>
            </a:r>
          </a:p>
        </p:txBody>
      </p:sp>
      <p:pic>
        <p:nvPicPr>
          <p:cNvPr id="4097" name="Picture 1">
            <a:extLst>
              <a:ext uri="{FF2B5EF4-FFF2-40B4-BE49-F238E27FC236}">
                <a16:creationId xmlns:a16="http://schemas.microsoft.com/office/drawing/2014/main" id="{0666D191-8FCC-E916-45E9-1A34114E27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365" y="2083324"/>
            <a:ext cx="551497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C1B4A4B-7C95-04FB-BFCC-E4C194CFE2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8567" y="2083324"/>
            <a:ext cx="555307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6213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549EB-D371-7FEC-772C-C89DCADB2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as Function of Flux Bias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A0DF0F6E-D91E-2C7A-F72A-7EE441F0135B}"/>
              </a:ext>
            </a:extLst>
          </p:cNvPr>
          <p:cNvSpPr/>
          <p:nvPr/>
        </p:nvSpPr>
        <p:spPr>
          <a:xfrm>
            <a:off x="5797485" y="3808429"/>
            <a:ext cx="603315" cy="38649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74146F9-D22D-C8EF-26B1-E9FCB3A6CB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498" y="1772828"/>
            <a:ext cx="550545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>
            <a:extLst>
              <a:ext uri="{FF2B5EF4-FFF2-40B4-BE49-F238E27FC236}">
                <a16:creationId xmlns:a16="http://schemas.microsoft.com/office/drawing/2014/main" id="{D815A586-B830-5ED5-B01F-9E2A2637B7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9875" y="1915703"/>
            <a:ext cx="55721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31979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6F04C-7AA5-89AD-4F67-4FAC229F1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Values for Capacitances</a:t>
            </a:r>
          </a:p>
        </p:txBody>
      </p:sp>
      <p:pic>
        <p:nvPicPr>
          <p:cNvPr id="3073" name="Picture 1">
            <a:extLst>
              <a:ext uri="{FF2B5EF4-FFF2-40B4-BE49-F238E27FC236}">
                <a16:creationId xmlns:a16="http://schemas.microsoft.com/office/drawing/2014/main" id="{6E0E09CC-A7E6-6F21-EB76-E119C634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762" y="1448446"/>
            <a:ext cx="52578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9C9FAE23-1F60-6F07-B32A-76F1BE1EF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81439" y="1448447"/>
            <a:ext cx="52578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85485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86A8D-8E20-F6A9-DB75-6D0AA0253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Delay Fit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15BCA4-0437-5DBC-377B-A10AD1B19D1D}"/>
                  </a:ext>
                </a:extLst>
              </p:cNvPr>
              <p:cNvSpPr txBox="1"/>
              <p:nvPr/>
            </p:nvSpPr>
            <p:spPr>
              <a:xfrm>
                <a:off x="6586735" y="3666690"/>
                <a:ext cx="3141694" cy="1048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6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𝑖𝑓</m:t>
                          </m:r>
                          <m:r>
                            <a:rPr lang="en-US" sz="6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en-US" sz="6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15BCA4-0437-5DBC-377B-A10AD1B19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735" y="3666690"/>
                <a:ext cx="3141694" cy="10486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7" name="Picture 1">
            <a:extLst>
              <a:ext uri="{FF2B5EF4-FFF2-40B4-BE49-F238E27FC236}">
                <a16:creationId xmlns:a16="http://schemas.microsoft.com/office/drawing/2014/main" id="{D1B9FA85-DB7E-6F6D-3B33-C1389198D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9085" y="1796996"/>
            <a:ext cx="5257800" cy="500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5015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90AA4-EFB5-2F5F-3AA2-B50C53146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Compare Theory to Data for fixed values of parameters</a:t>
            </a:r>
          </a:p>
        </p:txBody>
      </p:sp>
      <p:pic>
        <p:nvPicPr>
          <p:cNvPr id="5121" name="Picture 1">
            <a:extLst>
              <a:ext uri="{FF2B5EF4-FFF2-40B4-BE49-F238E27FC236}">
                <a16:creationId xmlns:a16="http://schemas.microsoft.com/office/drawing/2014/main" id="{9D327E99-499F-2907-E4C3-44CE67058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17198"/>
            <a:ext cx="4071067" cy="315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9A127B61-C0B9-7442-5EC2-C06F9E3787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9868" y="2217197"/>
            <a:ext cx="4071067" cy="315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3" name="Picture 3">
            <a:extLst>
              <a:ext uri="{FF2B5EF4-FFF2-40B4-BE49-F238E27FC236}">
                <a16:creationId xmlns:a16="http://schemas.microsoft.com/office/drawing/2014/main" id="{6ED13095-6337-46BF-A35D-68994856F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9736" y="2217197"/>
            <a:ext cx="4071067" cy="315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0711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1A20-F497-7C7C-E5A7-5EC8D7164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Zoom In on Flux Bias and Frequency </a:t>
            </a:r>
          </a:p>
        </p:txBody>
      </p:sp>
      <p:pic>
        <p:nvPicPr>
          <p:cNvPr id="6145" name="Picture 1">
            <a:extLst>
              <a:ext uri="{FF2B5EF4-FFF2-40B4-BE49-F238E27FC236}">
                <a16:creationId xmlns:a16="http://schemas.microsoft.com/office/drawing/2014/main" id="{FBA92260-2EA3-7DF4-D759-5575740AD0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67" y="1876508"/>
            <a:ext cx="546735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10226EDF-0B43-50AD-F0E0-71DFC682E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7576" y="1876508"/>
            <a:ext cx="561975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03495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A3C6F-BD88-5D17-D02D-A4F0596D9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Amplitude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336BFEFF-34E5-1915-C7A5-31C748FC9E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8859" y="2115046"/>
            <a:ext cx="5572125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63710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1F7FC-F083-B00B-460F-8FC6A5A79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Calculated standards curves</a:t>
            </a:r>
          </a:p>
        </p:txBody>
      </p:sp>
      <p:pic>
        <p:nvPicPr>
          <p:cNvPr id="7169" name="Picture 1">
            <a:extLst>
              <a:ext uri="{FF2B5EF4-FFF2-40B4-BE49-F238E27FC236}">
                <a16:creationId xmlns:a16="http://schemas.microsoft.com/office/drawing/2014/main" id="{34A7E707-687C-AC88-BE65-BA8AFDE237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9589" y="1828800"/>
            <a:ext cx="561975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3165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7055-97EF-6324-2A90-E4BEF2D9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South-West-And-North Calibration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30AAC7B2-6474-FFA3-82B6-6988C23749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1282" y="1500187"/>
            <a:ext cx="5219700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1" name="Picture 5">
            <a:extLst>
              <a:ext uri="{FF2B5EF4-FFF2-40B4-BE49-F238E27FC236}">
                <a16:creationId xmlns:a16="http://schemas.microsoft.com/office/drawing/2014/main" id="{634D5128-4742-DCFD-6A8D-E1D0969E0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909" y="1500187"/>
            <a:ext cx="5219700" cy="519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30B41C2-D1E4-B5CE-B624-6EA09E108613}"/>
              </a:ext>
            </a:extLst>
          </p:cNvPr>
          <p:cNvSpPr txBox="1"/>
          <p:nvPr/>
        </p:nvSpPr>
        <p:spPr>
          <a:xfrm>
            <a:off x="3096701" y="2258168"/>
            <a:ext cx="1101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NORTH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4DC7A2-FF4D-54CF-CF7E-2E4331B85C59}"/>
              </a:ext>
            </a:extLst>
          </p:cNvPr>
          <p:cNvSpPr txBox="1"/>
          <p:nvPr/>
        </p:nvSpPr>
        <p:spPr>
          <a:xfrm>
            <a:off x="8964764" y="2297927"/>
            <a:ext cx="1101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NORTH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00C3B0-E093-AD10-30B4-CB50CC4944EC}"/>
              </a:ext>
            </a:extLst>
          </p:cNvPr>
          <p:cNvSpPr txBox="1"/>
          <p:nvPr/>
        </p:nvSpPr>
        <p:spPr>
          <a:xfrm>
            <a:off x="3096701" y="5192619"/>
            <a:ext cx="1101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SOUTH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17ECF-74A7-0274-0500-E423E413D5AA}"/>
              </a:ext>
            </a:extLst>
          </p:cNvPr>
          <p:cNvSpPr txBox="1"/>
          <p:nvPr/>
        </p:nvSpPr>
        <p:spPr>
          <a:xfrm>
            <a:off x="8964764" y="5192619"/>
            <a:ext cx="1101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SOUTH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4C75DB-CD13-F64B-90E0-738FEEBA6F33}"/>
              </a:ext>
            </a:extLst>
          </p:cNvPr>
          <p:cNvSpPr txBox="1"/>
          <p:nvPr/>
        </p:nvSpPr>
        <p:spPr>
          <a:xfrm>
            <a:off x="1792687" y="3821668"/>
            <a:ext cx="1101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WEST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7E5825-A601-1937-F3EE-E48D936D5994}"/>
              </a:ext>
            </a:extLst>
          </p:cNvPr>
          <p:cNvSpPr txBox="1"/>
          <p:nvPr/>
        </p:nvSpPr>
        <p:spPr>
          <a:xfrm>
            <a:off x="7795922" y="3830282"/>
            <a:ext cx="1101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WEST</a:t>
            </a:r>
          </a:p>
        </p:txBody>
      </p:sp>
    </p:spTree>
    <p:extLst>
      <p:ext uri="{BB962C8B-B14F-4D97-AF65-F5344CB8AC3E}">
        <p14:creationId xmlns:p14="http://schemas.microsoft.com/office/powerpoint/2010/main" val="6844601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197F0-1FDD-6D10-6BBD-D568A658D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SWaN Cal In Scikit-RF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0077C7-E95C-7452-D918-57A646F84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196" y="1910711"/>
            <a:ext cx="6506483" cy="458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014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1954</TotalTime>
  <Words>127</Words>
  <Application>Microsoft Office PowerPoint</Application>
  <PresentationFormat>Widescreen</PresentationFormat>
  <Paragraphs>37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Cambria Math</vt:lpstr>
      <vt:lpstr>Office Theme</vt:lpstr>
      <vt:lpstr>JPA-CAL</vt:lpstr>
      <vt:lpstr>JPA Model</vt:lpstr>
      <vt:lpstr>Measurement</vt:lpstr>
      <vt:lpstr>Measurement of S11 Corrected with MEMS E-Cal</vt:lpstr>
      <vt:lpstr>Unwrapped data, concatenated</vt:lpstr>
      <vt:lpstr>Fit Using concatenated data and function</vt:lpstr>
      <vt:lpstr>Fits as Function of Flux Bias</vt:lpstr>
      <vt:lpstr>Fit Values for Capacitances</vt:lpstr>
      <vt:lpstr>Time Delay Fit</vt:lpstr>
      <vt:lpstr>Compare Theory to Data for fixed values of parameters</vt:lpstr>
      <vt:lpstr>Zoom In on Flux Bias and Frequency </vt:lpstr>
      <vt:lpstr>Amplitude</vt:lpstr>
      <vt:lpstr>Calculated standards curves</vt:lpstr>
      <vt:lpstr>South-West-And-North Calibration</vt:lpstr>
      <vt:lpstr>SWaN Cal In Scikit-RF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Spietz, Lafe F. (Fed)</dc:creator>
  <cp:lastModifiedBy>Spietz, Lafe F. (Fed)</cp:lastModifiedBy>
  <cp:revision>78</cp:revision>
  <dcterms:created xsi:type="dcterms:W3CDTF">2026-02-03T20:50:13Z</dcterms:created>
  <dcterms:modified xsi:type="dcterms:W3CDTF">2026-02-05T21:51:38Z</dcterms:modified>
</cp:coreProperties>
</file>